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1" r:id="rId6"/>
    <p:sldId id="260" r:id="rId7"/>
    <p:sldId id="28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69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37EF-A633-1557-75A0-A5543D14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E7038E-BA67-071A-1B63-DD20807AE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9E8EE7-5E94-8F93-E53A-478A63C53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92F17-9324-B613-055E-061A2921D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25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C5E50-C7C1-3AFD-1ECA-CFB84C99E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8686A-AF32-A32F-B6AE-8675BD6BA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742BA-D61F-D32E-992D-A8C44F454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AEC29-738E-836C-2070-B30378CC0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69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A96C-463A-89B0-1E55-60AA9F792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2A63D-13BA-CD12-E614-A50C7070F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3C2F3-2C52-0890-5C46-6B293F3EB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6C1F6-AB8D-1394-7BE0-3115365F2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in-noir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el-art-beige.vercel.app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mrgbpjpy/-vite-react-platforme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el-art-beige.vercel.app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el-art-beige.vercel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odesandbox.io/p/sandbox/ts-react-hooks-drill-practice-hw5tn8?file=%2Fsrc%2Fcomponents%2FBoolean_Toogle.tsx%3A15%2C2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gbpjpy/-vite-react-platform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tin-noir.vercel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gbpjpy/datin-interactive-comic/tree/main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docs/handbook/intro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act.dev/learn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3f.docs.pmnd.r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hreejs.org/doc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blender.org/manual/en/latest/addons/import_export/scene_gltf2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sap.com/docs/v3/Plugins/ScrollTrigge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in-noir.vercel.app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1219732525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gbpjpy/datin-interactive-comic/tree/mai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rgbpjpy/datin-interactive-comic/tree/main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in-noir.vercel.app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GRAPHIC NOVEL •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CODE TO ANIMATION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4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77240" y="305409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• React • Three.js • Blender • GSAP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7240" y="3767328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3D animated story becomes an interactive web experience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86968" y="527608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2926080" y="52852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datin-noir.vercel.app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the presenter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20040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466344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Bachelor of Science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Information Technology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of Science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Computer Science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59436" cy="320040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45936" y="2029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code meets art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578608"/>
            <a:ext cx="47548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development • teaching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animation • interactive graphics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Student-focused, project-based learning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goal: show students how programming, design, and animation connect.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be taught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179222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React + TypeScript application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258775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an MVC-inspired project structure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77240" y="3538728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3832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Blender GLB assets with Three.js / React Three Fiber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4334256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4178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 characters, cameras, and props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77240" y="5129784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497433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GSAP scroll progress to animation time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projects: learning by building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29184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experiments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47548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Pixel-art / Thanos Snap application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effects and browser interaction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the live demo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212080" cy="3291840"/>
          </a:xfrm>
          <a:prstGeom prst="roundRect">
            <a:avLst>
              <a:gd name="adj" fmla="val 2222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9436" cy="3291840"/>
          </a:xfrm>
          <a:prstGeom prst="rect">
            <a:avLst/>
          </a:prstGeom>
          <a:solidFill>
            <a:srgbClr val="A98BFA"/>
          </a:solidFill>
          <a:ln w="12700">
            <a:solidFill>
              <a:srgbClr val="A9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91656" y="2029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 game development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91656" y="2578608"/>
            <a:ext cx="47548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TypeScript platformer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loops, input, physics, collisions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the source repository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960120" y="5440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pixel-art-beige.vercel.app</a:t>
            </a:r>
            <a:endParaRPr lang="en-US" sz="1400" dirty="0"/>
          </a:p>
        </p:txBody>
      </p:sp>
      <p:sp>
        <p:nvSpPr>
          <p:cNvPr id="17" name="Text 15">
            <a:hlinkClick r:id="rId4"/>
          </p:cNvPr>
          <p:cNvSpPr/>
          <p:nvPr/>
        </p:nvSpPr>
        <p:spPr>
          <a:xfrm>
            <a:off x="6172200" y="54406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github.com/mrgbpjpy/-vite-react-platformer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C155D-F455-4544-368D-78648BB2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50BA50-146F-440D-0933-2B440A474864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DA08EC-CA5C-FBBB-61C9-739EA9E0B8C8}"/>
              </a:ext>
            </a:extLst>
          </p:cNvPr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8514A3B-3421-42F6-7A90-24AA1F0CE7FC}"/>
              </a:ext>
            </a:extLst>
          </p:cNvPr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MVC Concept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2BFE73-695A-FE69-7B65-BC31A2C69CCE}"/>
              </a:ext>
            </a:extLst>
          </p:cNvPr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706167-8F95-6D6E-B22A-D1B538682DE9}"/>
              </a:ext>
            </a:extLst>
          </p:cNvPr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552920-2B34-9DF9-37A0-4C1FE42AE54D}"/>
              </a:ext>
            </a:extLst>
          </p:cNvPr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42D9AE-C67A-39FA-8712-A5D3C8E2B1DC}"/>
              </a:ext>
            </a:extLst>
          </p:cNvPr>
          <p:cNvSpPr/>
          <p:nvPr/>
        </p:nvSpPr>
        <p:spPr>
          <a:xfrm>
            <a:off x="731520" y="1828800"/>
            <a:ext cx="1088136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F32EF6F-EF5B-7719-DCB1-6236855D1363}"/>
              </a:ext>
            </a:extLst>
          </p:cNvPr>
          <p:cNvSpPr/>
          <p:nvPr/>
        </p:nvSpPr>
        <p:spPr>
          <a:xfrm>
            <a:off x="731520" y="1828800"/>
            <a:ext cx="59436" cy="356616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B4D2E5-CFB4-D033-FEC9-C642A4385BED}"/>
              </a:ext>
            </a:extLst>
          </p:cNvPr>
          <p:cNvSpPr/>
          <p:nvPr/>
        </p:nvSpPr>
        <p:spPr>
          <a:xfrm>
            <a:off x="950976" y="20299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 Concept</a:t>
            </a: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0902977-E9E4-2B5A-AA81-9C80A90C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863761"/>
            <a:ext cx="10238392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07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Concepts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667512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56616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Thanos’ Snap — browser experiment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62179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page identifies the project as “Thanos’ Snap.”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discussion: What happens when a user clicks a button? How do state, animation, and rendering respond?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18288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80960" y="1828800"/>
            <a:ext cx="59436" cy="356616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00416" y="2029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it live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00416" y="2578608"/>
            <a:ext cx="320040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app during class to demonstrate interactive effects and the relationship between user input and visual feedback.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77240" y="57058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LIVE PROJECT ↗  https://pixel-art-beige.vercel.app/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2D57F-F3BB-D666-0FA4-0A7550A1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C6B31C-F47F-479B-80D2-78B1C6BD132E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2152DB-D18C-F1E8-B5FE-8B5E25C3B9C7}"/>
              </a:ext>
            </a:extLst>
          </p:cNvPr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13E646-219B-70EA-5E26-90442343906E}"/>
              </a:ext>
            </a:extLst>
          </p:cNvPr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TypeScript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F614A2A-92D7-7685-B8C7-EC877B08FAA0}"/>
              </a:ext>
            </a:extLst>
          </p:cNvPr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F273C1-02FF-64F1-ED60-1697E7AD58D6}"/>
              </a:ext>
            </a:extLst>
          </p:cNvPr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723B89-0EC0-5C73-96C2-7BA5E02AD161}"/>
              </a:ext>
            </a:extLst>
          </p:cNvPr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BDEEEE-C306-3300-034A-43F334D1B7D4}"/>
              </a:ext>
            </a:extLst>
          </p:cNvPr>
          <p:cNvSpPr/>
          <p:nvPr/>
        </p:nvSpPr>
        <p:spPr>
          <a:xfrm>
            <a:off x="731520" y="1828800"/>
            <a:ext cx="667512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13F9491-C6F6-651C-C0F5-105829122D18}"/>
              </a:ext>
            </a:extLst>
          </p:cNvPr>
          <p:cNvSpPr/>
          <p:nvPr/>
        </p:nvSpPr>
        <p:spPr>
          <a:xfrm>
            <a:off x="731520" y="1828800"/>
            <a:ext cx="59436" cy="356616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DC38F2-972E-B24B-3E7D-D49AD39F5149}"/>
              </a:ext>
            </a:extLst>
          </p:cNvPr>
          <p:cNvSpPr/>
          <p:nvPr/>
        </p:nvSpPr>
        <p:spPr>
          <a:xfrm>
            <a:off x="950976" y="202996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Examples</a:t>
            </a:r>
            <a:endParaRPr lang="en-US"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5BC03B2-1A25-1FEA-8F03-A8BA2C3048B4}"/>
              </a:ext>
            </a:extLst>
          </p:cNvPr>
          <p:cNvSpPr/>
          <p:nvPr/>
        </p:nvSpPr>
        <p:spPr>
          <a:xfrm>
            <a:off x="950976" y="2578608"/>
            <a:ext cx="62179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TS files are meant for logic set up.</a:t>
            </a:r>
            <a:br>
              <a:rPr lang="en-US" sz="1600" dirty="0">
                <a:solidFill>
                  <a:schemeClr val="bg1"/>
                </a:solidFill>
              </a:rPr>
            </a:b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TSX files are meant to show a visual on the logic.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0B72712-29E0-0D13-D2AE-C7650D3D050A}"/>
              </a:ext>
            </a:extLst>
          </p:cNvPr>
          <p:cNvSpPr/>
          <p:nvPr/>
        </p:nvSpPr>
        <p:spPr>
          <a:xfrm>
            <a:off x="7680960" y="182880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63BE2C9-5658-E7B1-54EA-DD3CA7BF0653}"/>
              </a:ext>
            </a:extLst>
          </p:cNvPr>
          <p:cNvSpPr/>
          <p:nvPr/>
        </p:nvSpPr>
        <p:spPr>
          <a:xfrm>
            <a:off x="7680960" y="1828800"/>
            <a:ext cx="59436" cy="356616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56D006-D2A3-391D-CAC9-E58E22965BDF}"/>
              </a:ext>
            </a:extLst>
          </p:cNvPr>
          <p:cNvSpPr/>
          <p:nvPr/>
        </p:nvSpPr>
        <p:spPr>
          <a:xfrm>
            <a:off x="7900416" y="2029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it live</a:t>
            </a:r>
            <a:endParaRPr lang="en-US"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EE549BD-D422-5309-904A-DA6B58D70AB9}"/>
              </a:ext>
            </a:extLst>
          </p:cNvPr>
          <p:cNvSpPr/>
          <p:nvPr/>
        </p:nvSpPr>
        <p:spPr>
          <a:xfrm>
            <a:off x="7900416" y="2578608"/>
            <a:ext cx="320040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app during class to demonstrate interactive effects and the relationship between user input and visual feedback.</a:t>
            </a:r>
            <a:endParaRPr lang="en-US" sz="1600" dirty="0"/>
          </a:p>
        </p:txBody>
      </p:sp>
      <p:sp>
        <p:nvSpPr>
          <p:cNvPr id="16" name="Text 14">
            <a:hlinkClick r:id="rId3"/>
            <a:extLst>
              <a:ext uri="{FF2B5EF4-FFF2-40B4-BE49-F238E27FC236}">
                <a16:creationId xmlns:a16="http://schemas.microsoft.com/office/drawing/2014/main" id="{30971AC6-A670-AA80-684A-D69813240503}"/>
              </a:ext>
            </a:extLst>
          </p:cNvPr>
          <p:cNvSpPr/>
          <p:nvPr/>
        </p:nvSpPr>
        <p:spPr>
          <a:xfrm>
            <a:off x="777240" y="57058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OPEN LIVE PROJECT ↗  TypeScript Examples in </a:t>
            </a:r>
            <a:r>
              <a:rPr lang="en-US" sz="1400" u="sng" dirty="0" err="1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/>
              </a:rPr>
              <a:t>CodeSandBox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1775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platformer: logic in motion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10512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59436" cy="347472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loop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60320"/>
            <a:ext cx="48006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input → update player state → apply gravity/collisions → choose animation frame → render.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10512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810512"/>
            <a:ext cx="59436" cy="3474720"/>
          </a:xfrm>
          <a:prstGeom prst="rect">
            <a:avLst/>
          </a:prstGeom>
          <a:solidFill>
            <a:srgbClr val="A98BFA"/>
          </a:solidFill>
          <a:ln w="12700">
            <a:solidFill>
              <a:srgbClr val="A9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2011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concepts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7376" y="2560320"/>
            <a:ext cx="48006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TypeScript engine, stage routing, AABB collisions, debugging controls, deterministic replay. 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77240" y="56692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↗ github.com/mrgbpjpy/-vite-react-platformer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DATIN: the final interactive comic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pic>
        <p:nvPicPr>
          <p:cNvPr id="8" name="Image 0" descr="/mnt/data/ppt_assets/dat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6492240" cy="3977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52360" y="1755648"/>
            <a:ext cx="4023360" cy="3977640"/>
          </a:xfrm>
          <a:prstGeom prst="roundRect">
            <a:avLst>
              <a:gd name="adj" fmla="val 1839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452360" y="1755648"/>
            <a:ext cx="59436" cy="397764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671816" y="19568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demo to story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671816" y="2505456"/>
            <a:ext cx="3566160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shared 3D Canvas displays animated comic panels.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cover autoplays; Page 2 panels respond to scroll position.</a:t>
            </a:r>
            <a:endParaRPr lang="en-US" sz="1600" dirty="0"/>
          </a:p>
        </p:txBody>
      </p:sp>
      <p:sp>
        <p:nvSpPr>
          <p:cNvPr id="13" name="Text 10">
            <a:hlinkClick r:id="rId4"/>
          </p:cNvPr>
          <p:cNvSpPr/>
          <p:nvPr/>
        </p:nvSpPr>
        <p:spPr>
          <a:xfrm>
            <a:off x="777240" y="59161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↗ https://datin-noir.vercel.app/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repository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0607040" cy="3291840"/>
          </a:xfrm>
          <a:prstGeom prst="roundRect">
            <a:avLst>
              <a:gd name="adj" fmla="val 2222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59436" cy="329184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6696" y="202996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— source code &amp; version history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96696" y="2578608"/>
            <a:ext cx="101498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stores code and changes over time. Students can inspect components, models, controllers, and documentation.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a file from entry point to 3D rendering, then compare it with the live app.</a:t>
            </a:r>
            <a:endParaRPr lang="en-US" sz="16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822960" y="56235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↗ github.com/mrgbpjpy/datin-interactive-comic/tree/main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journey: start to finish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621792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→ Intro → Loading → Comic Reader → Panels</a:t>
            </a:r>
            <a:endParaRPr lang="en-US" sz="1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CD69E0-EE30-536B-01BC-959A5310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69" y="1678469"/>
            <a:ext cx="10748211" cy="43880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+ React: the foundation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810512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810512"/>
            <a:ext cx="59436" cy="361188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5256" y="20116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5256" y="2560320"/>
            <a:ext cx="489204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and interfaces describe panel data, camera settings, and animation options. Catch configuration mistakes early.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10512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810512"/>
            <a:ext cx="59436" cy="361188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201168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7376" y="2560320"/>
            <a:ext cx="489204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compose the reader, pages, panels, scenes, and controls. State decides whether to show intro, loading, or comic.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31520" y="5687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TypeScript Handbook ↗</a:t>
            </a:r>
            <a:endParaRPr lang="en-US" sz="1400" dirty="0"/>
          </a:p>
        </p:txBody>
      </p:sp>
      <p:sp>
        <p:nvSpPr>
          <p:cNvPr id="17" name="Text 15">
            <a:hlinkClick r:id="rId4"/>
          </p:cNvPr>
          <p:cNvSpPr/>
          <p:nvPr/>
        </p:nvSpPr>
        <p:spPr>
          <a:xfrm>
            <a:off x="6217920" y="56875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 docs ↗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MVC-inspired source structure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59436" cy="356616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075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59536" y="2624328"/>
            <a:ext cx="31089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Comic.model.ts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pages, panel layouts, action names, and camera settings.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18745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43400" y="1874520"/>
            <a:ext cx="59436" cy="356616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62856" y="2075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2856" y="2624328"/>
            <a:ext cx="310896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ComicReader.tsx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ComicPage.tsx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ComicPanel.tsx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ComicScene.tsx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Character.tsx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87452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59436" cy="3566160"/>
          </a:xfrm>
          <a:prstGeom prst="rect">
            <a:avLst/>
          </a:prstGeom>
          <a:solidFill>
            <a:srgbClr val="A98BFA"/>
          </a:solidFill>
          <a:ln w="12700">
            <a:solidFill>
              <a:srgbClr val="A9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66176" y="20756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66176" y="2624328"/>
            <a:ext cx="306324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Animation.controller.ts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Scroll.controller.ts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Camera.controller.ts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Noir.controller.ts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58064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is not classical MVC; this project uses an MVC-inspired separation of concerns.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files to pixels: the rendering path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629107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shared Canvas + per-panel views → character, camera, props, animation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9C148F-A71A-2C85-98D6-F651130C5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042" y="1643833"/>
            <a:ext cx="8534257" cy="45213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Three Fiber + Three.js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52044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Three Fiber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475488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React components drive a Three.js scene. &lt;Canvas&gt; hosts rendering; Drei View gives panels separate viewports.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9436" cy="3520440"/>
          </a:xfrm>
          <a:prstGeom prst="rect">
            <a:avLst/>
          </a:prstGeom>
          <a:solidFill>
            <a:srgbClr val="A98BFA"/>
          </a:solidFill>
          <a:ln w="12700">
            <a:solidFill>
              <a:srgbClr val="A9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91656" y="202996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Three.js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91656" y="2578608"/>
            <a:ext cx="4754880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graph, camera, meshes, materials, lights, GLTFLoader, and AnimationMixer turn exported 3D assets into rendered frames.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49808" y="5715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 Three Fiber docs ↗</a:t>
            </a:r>
            <a:endParaRPr lang="en-US" sz="1400" dirty="0"/>
          </a:p>
        </p:txBody>
      </p:sp>
      <p:sp>
        <p:nvSpPr>
          <p:cNvPr id="17" name="Text 15">
            <a:hlinkClick r:id="rId4"/>
          </p:cNvPr>
          <p:cNvSpPr/>
          <p:nvPr/>
        </p:nvSpPr>
        <p:spPr>
          <a:xfrm>
            <a:off x="6172200" y="5715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Three.js docs ↗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Blender: the animation workshop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1783080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and rig characters, props, and environments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49808" y="2697480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2542032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 body movement, microphone, and camera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49808" y="3456432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9848" y="3300984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separate Actions for different animated objects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49808" y="4215384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848" y="4059936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to GLB / glTF for browser playback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49808" y="4974336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9848" y="4818888"/>
            <a:ext cx="10241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object names, Action names, and frame ranges</a:t>
            </a:r>
            <a:endParaRPr lang="en-US" sz="2100" dirty="0"/>
          </a:p>
        </p:txBody>
      </p:sp>
      <p:sp>
        <p:nvSpPr>
          <p:cNvPr id="18" name="Text 16">
            <a:hlinkClick r:id="rId3"/>
          </p:cNvPr>
          <p:cNvSpPr/>
          <p:nvPr/>
        </p:nvSpPr>
        <p:spPr>
          <a:xfrm>
            <a:off x="768096" y="60807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Blender glTF export manual ↗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12 principles of animation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810512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810512"/>
            <a:ext cx="59436" cy="356616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5256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Movement feels alive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5256" y="2560320"/>
            <a:ext cx="4846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Timing &amp; spacing • anticipation • follow-through • arcs • slow in / slow out • exaggeration.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10512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810512"/>
            <a:ext cx="59436" cy="356616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to DATIN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7376" y="2560320"/>
            <a:ext cx="4846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gestures, readable poses, camera emphasis, and motion that supports the story.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705856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exercise: compare a linear movement with a carefully eased action.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Autoplay versus GSAP scroll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59436" cy="356616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5256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 • AUTOPLAY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5256" y="2578608"/>
            <a:ext cx="4846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cover animation starts independently of scrolling. The animation controller advances time while playback is active.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9436" cy="356616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2029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 • SCROLL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7376" y="2578608"/>
            <a:ext cx="4846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GSAP ScrollTrigger converts scroll position into normalized progress. The animation controller samples the corresponding time.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77240" y="57881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GSAP ScrollTrigger documentation ↗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Panel-to-panel logic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6300216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page model supplies each panel’s GLB, camera, action, and playback mode.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5DE7F3-766D-D022-2075-6CC50115D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126" y="1722066"/>
            <a:ext cx="9415914" cy="42516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Camera, microphone &amp; animation Actions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65760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Blender export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480060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object → camera animation Action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Microphone mesh → microphone Action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 rig → body Action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exported in the GLB.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257800" cy="3657600"/>
          </a:xfrm>
          <a:prstGeom prst="roundRect">
            <a:avLst>
              <a:gd name="adj" fmla="val 2000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9436" cy="3657600"/>
          </a:xfrm>
          <a:prstGeom prst="rect">
            <a:avLst/>
          </a:prstGeom>
          <a:solidFill>
            <a:srgbClr val="A98BFA"/>
          </a:solidFill>
          <a:ln w="12700">
            <a:solidFill>
              <a:srgbClr val="A9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20299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A9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playback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7376" y="2578608"/>
            <a:ext cx="480060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Character.tsx loads the shot and visible rig. AnimationController selects clips; camera and prop animations sample the same playback time.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724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 tip: verify GLB object names and clip track targets, not just Blender labels.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animation to storytelling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47472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pipeline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48006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Storyboard → Blender assets → rig/animate → GLB export → React Three Fiber → scroll interactions → deploy.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9436" cy="347472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20299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demo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37376" y="2578608"/>
            <a:ext cx="480060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Show cover autoplay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Scroll the studio shot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Compare panels and cameras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Inspect code on GitHub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68096" y="56875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DATIN live experience ↗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Animation portfolio: Fellowship Academy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6766560" cy="3611880"/>
          </a:xfrm>
          <a:prstGeom prst="roundRect">
            <a:avLst>
              <a:gd name="adj" fmla="val 202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9436" cy="3611880"/>
          </a:xfrm>
          <a:prstGeom prst="rect">
            <a:avLst/>
          </a:prstGeom>
          <a:solidFill>
            <a:srgbClr val="F8BF6A"/>
          </a:solidFill>
          <a:ln w="12700">
            <a:solidFill>
              <a:srgbClr val="F8BF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20299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8B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/ video production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50976" y="2578608"/>
            <a:ext cx="630936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example to discuss the other side of the pipeline: planning shots, animation, lighting, rendering, editing, and communicating a visual message.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26680" y="182880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16243A"/>
          </a:solidFill>
          <a:ln w="12700">
            <a:solidFill>
              <a:srgbClr val="3146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6680" y="1828800"/>
            <a:ext cx="59436" cy="3611880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46136" y="202996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the video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46136" y="2578608"/>
            <a:ext cx="3291840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provided Vimeo manage URL may require account access. A public viewing URL is linked for students.</a:t>
            </a:r>
            <a:endParaRPr lang="en-US" sz="16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786384" y="570585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↗ vimeo.com/1219732525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go next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" y="1911096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9848" y="17556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the DATIN repository and identify a Model, View, and Controller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9808" y="2660904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250545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 panel caption or layout in Comic.model.ts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9808" y="3410712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69848" y="325526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 a simple Blender prop and export a GLB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9808" y="4160520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69848" y="400507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it into React Three Fiber and connect playback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" y="4910328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69848" y="47548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what you built — and explain why it works</a:t>
            </a:r>
            <a:endParaRPr lang="en-US" sz="2000" dirty="0"/>
          </a:p>
        </p:txBody>
      </p:sp>
      <p:sp>
        <p:nvSpPr>
          <p:cNvPr id="18" name="Text 16">
            <a:hlinkClick r:id="rId3"/>
          </p:cNvPr>
          <p:cNvSpPr/>
          <p:nvPr/>
        </p:nvSpPr>
        <p:spPr>
          <a:xfrm>
            <a:off x="777240" y="59436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DATIN Interactive Comic ↗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3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DA1011-D1A5-28EC-89A5-3702160D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7867B7F-39A7-B9D4-82FE-D19B5AC8B709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0A5D2B-6D00-B644-B337-3A8EFDAE67DB}"/>
              </a:ext>
            </a:extLst>
          </p:cNvPr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66EA2A-B90A-8C8D-90ED-E007455D81A9}"/>
              </a:ext>
            </a:extLst>
          </p:cNvPr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Work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C1ABD90-11C6-7AD9-4AF5-1EDFC3A6ECA9}"/>
              </a:ext>
            </a:extLst>
          </p:cNvPr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A2817A-0F38-5F7B-E956-FBAB5430A3B8}"/>
              </a:ext>
            </a:extLst>
          </p:cNvPr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6E5C41-4B9E-3F94-B53B-F572DC14F968}"/>
              </a:ext>
            </a:extLst>
          </p:cNvPr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19F7104-CF05-7E40-967B-DFC17FE26D98}"/>
              </a:ext>
            </a:extLst>
          </p:cNvPr>
          <p:cNvSpPr/>
          <p:nvPr/>
        </p:nvSpPr>
        <p:spPr>
          <a:xfrm>
            <a:off x="749808" y="1911096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A365D6-11CA-084E-DE5D-18B7046D8A07}"/>
              </a:ext>
            </a:extLst>
          </p:cNvPr>
          <p:cNvSpPr/>
          <p:nvPr/>
        </p:nvSpPr>
        <p:spPr>
          <a:xfrm>
            <a:off x="1069848" y="1755648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the DATIN repository and identify a Model, View, and Controller</a:t>
            </a:r>
            <a:endParaRPr lang="en-US" sz="2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44EEF56-3469-C080-75DF-E9E056229391}"/>
              </a:ext>
            </a:extLst>
          </p:cNvPr>
          <p:cNvSpPr/>
          <p:nvPr/>
        </p:nvSpPr>
        <p:spPr>
          <a:xfrm>
            <a:off x="749808" y="2660904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36F4315-8DDD-71F7-1947-AA1494583A1A}"/>
              </a:ext>
            </a:extLst>
          </p:cNvPr>
          <p:cNvSpPr/>
          <p:nvPr/>
        </p:nvSpPr>
        <p:spPr>
          <a:xfrm>
            <a:off x="1069848" y="2505456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a panel caption or layout in Comic.model.ts</a:t>
            </a:r>
            <a:endParaRPr lang="en-US" sz="2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CDBD98C-588E-96E7-CBE9-57CA3138DDE8}"/>
              </a:ext>
            </a:extLst>
          </p:cNvPr>
          <p:cNvSpPr/>
          <p:nvPr/>
        </p:nvSpPr>
        <p:spPr>
          <a:xfrm>
            <a:off x="749808" y="3410712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E69A065-7AB9-CE25-0F55-F96661D12002}"/>
              </a:ext>
            </a:extLst>
          </p:cNvPr>
          <p:cNvSpPr/>
          <p:nvPr/>
        </p:nvSpPr>
        <p:spPr>
          <a:xfrm>
            <a:off x="1069848" y="3255264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 a simple Blender prop and export a GLB</a:t>
            </a:r>
            <a:endParaRPr lang="en-US"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34A70FD-1BE9-E2B7-4707-234A2867444B}"/>
              </a:ext>
            </a:extLst>
          </p:cNvPr>
          <p:cNvSpPr/>
          <p:nvPr/>
        </p:nvSpPr>
        <p:spPr>
          <a:xfrm>
            <a:off x="749808" y="4160520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0915BBC-8157-F43C-6F15-2B61F6D44DD1}"/>
              </a:ext>
            </a:extLst>
          </p:cNvPr>
          <p:cNvSpPr/>
          <p:nvPr/>
        </p:nvSpPr>
        <p:spPr>
          <a:xfrm>
            <a:off x="1069848" y="4005072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it into React Three Fiber and connect playback</a:t>
            </a:r>
            <a:endParaRPr lang="en-US" sz="2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AF3D63E-CE22-E4F7-67FE-570AE2057320}"/>
              </a:ext>
            </a:extLst>
          </p:cNvPr>
          <p:cNvSpPr/>
          <p:nvPr/>
        </p:nvSpPr>
        <p:spPr>
          <a:xfrm>
            <a:off x="749808" y="4910328"/>
            <a:ext cx="109728" cy="109728"/>
          </a:xfrm>
          <a:prstGeom prst="ellipse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314F64-6D7C-4E30-7E97-4C33D51F093E}"/>
              </a:ext>
            </a:extLst>
          </p:cNvPr>
          <p:cNvSpPr/>
          <p:nvPr/>
        </p:nvSpPr>
        <p:spPr>
          <a:xfrm>
            <a:off x="1069848" y="47548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what you built — and explain why it works</a:t>
            </a:r>
            <a:endParaRPr lang="en-US" sz="2000" dirty="0"/>
          </a:p>
        </p:txBody>
      </p:sp>
      <p:sp>
        <p:nvSpPr>
          <p:cNvPr id="18" name="Text 16">
            <a:hlinkClick r:id="rId3"/>
            <a:extLst>
              <a:ext uri="{FF2B5EF4-FFF2-40B4-BE49-F238E27FC236}">
                <a16:creationId xmlns:a16="http://schemas.microsoft.com/office/drawing/2014/main" id="{9C1FE30F-625E-7DDD-F384-298874E869A0}"/>
              </a:ext>
            </a:extLst>
          </p:cNvPr>
          <p:cNvSpPr/>
          <p:nvPr/>
        </p:nvSpPr>
        <p:spPr>
          <a:xfrm>
            <a:off x="777240" y="594360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DATIN Interactive Comic ↗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61906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7D5D0"/>
          </a:solidFill>
          <a:ln w="12700">
            <a:solidFill>
              <a:srgbClr val="47D5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DATIN / CLASSROOM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Questions? • Live demonstration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27048"/>
            <a:ext cx="11064240" cy="0"/>
          </a:xfrm>
          <a:prstGeom prst="line">
            <a:avLst/>
          </a:prstGeom>
          <a:noFill/>
          <a:ln w="12700">
            <a:solidFill>
              <a:srgbClr val="2E40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65379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EWENZ ORIGINALS  • 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A8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7D5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BUILD. ANIMATE. INTERACT.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TypeScript logic to 3D storytelling</a:t>
            </a:r>
            <a:endParaRPr lang="en-US" sz="25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224028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u="sng" dirty="0">
                <a:solidFill>
                  <a:srgbClr val="47D5D0"/>
                </a:solidFill>
                <a:uFill>
                  <a:solidFill>
                    <a:srgbClr val="47D5D0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  ↗  https://datin-noir.vercel.app/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1485</Words>
  <Application>Microsoft Office PowerPoint</Application>
  <PresentationFormat>Widescreen</PresentationFormat>
  <Paragraphs>270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DATIN — From Coding to 3D Animation</dc:title>
  <dc:subject>DATIN: From Code to Animation</dc:subject>
  <dc:creator>EWENZ Originals</dc:creator>
  <cp:lastModifiedBy>Erick Esquilin</cp:lastModifiedBy>
  <cp:revision>7</cp:revision>
  <dcterms:created xsi:type="dcterms:W3CDTF">2026-10-08T18:01:49Z</dcterms:created>
  <dcterms:modified xsi:type="dcterms:W3CDTF">2026-10-08T20:23:23Z</dcterms:modified>
</cp:coreProperties>
</file>